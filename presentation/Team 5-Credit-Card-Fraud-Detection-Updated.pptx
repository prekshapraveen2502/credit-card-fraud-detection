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T Serif" charset="1" panose="020A0603040505020204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  <p:embeddedFont>
      <p:font typeface="PT Serif Bold" charset="1" panose="020A0703040505020204"/>
      <p:regular r:id="rId23"/>
    </p:embeddedFont>
    <p:embeddedFont>
      <p:font typeface="Arimo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428257"/>
            <a:ext cx="9445523" cy="9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Credit Card Fraud Detection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726629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INFO 6105: Data Science Engineering Methods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499202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Team 5 ·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Hiteshi Kawadia | Preksha Praveen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6271765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Kaggle ULB Dataset · 284,807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29991"/>
            <a:ext cx="7387228" cy="7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What is credit card fraud?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585572"/>
            <a:ext cx="3863130" cy="4852397"/>
            <a:chOff x="0" y="0"/>
            <a:chExt cx="5150841" cy="6469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0866" cy="6469888"/>
            </a:xfrm>
            <a:custGeom>
              <a:avLst/>
              <a:gdLst/>
              <a:ahLst/>
              <a:cxnLst/>
              <a:rect r="r" b="b" t="t" l="l"/>
              <a:pathLst>
                <a:path h="6469888" w="515086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026" y="0"/>
                  </a:lnTo>
                  <a:cubicBezTo>
                    <a:pt x="5041646" y="0"/>
                    <a:pt x="5150866" y="109220"/>
                    <a:pt x="5150866" y="243840"/>
                  </a:cubicBezTo>
                  <a:lnTo>
                    <a:pt x="5150866" y="6226048"/>
                  </a:lnTo>
                  <a:cubicBezTo>
                    <a:pt x="5150866" y="6360668"/>
                    <a:pt x="5041646" y="6469888"/>
                    <a:pt x="4907026" y="6469888"/>
                  </a:cubicBezTo>
                  <a:lnTo>
                    <a:pt x="243840" y="6469888"/>
                  </a:lnTo>
                  <a:cubicBezTo>
                    <a:pt x="109220" y="6469888"/>
                    <a:pt x="0" y="6360668"/>
                    <a:pt x="0" y="6226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3547472"/>
            <a:ext cx="3863130" cy="152400"/>
            <a:chOff x="0" y="0"/>
            <a:chExt cx="5150841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0866" cy="203327"/>
            </a:xfrm>
            <a:custGeom>
              <a:avLst/>
              <a:gdLst/>
              <a:ahLst/>
              <a:cxnLst/>
              <a:rect r="r" b="b" t="t" l="l"/>
              <a:pathLst>
                <a:path h="203327" w="515086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097" y="0"/>
                  </a:lnTo>
                  <a:cubicBezTo>
                    <a:pt x="5125466" y="0"/>
                    <a:pt x="5150866" y="25400"/>
                    <a:pt x="5150866" y="56769"/>
                  </a:cubicBezTo>
                  <a:lnTo>
                    <a:pt x="5150866" y="146558"/>
                  </a:lnTo>
                  <a:cubicBezTo>
                    <a:pt x="5150866" y="177927"/>
                    <a:pt x="5125466" y="203327"/>
                    <a:pt x="5094097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98455" y="3160366"/>
            <a:ext cx="850554" cy="850554"/>
            <a:chOff x="0" y="0"/>
            <a:chExt cx="1134072" cy="1134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53544" y="3268266"/>
            <a:ext cx="340223" cy="5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9" y="4275239"/>
            <a:ext cx="3219898" cy="9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Scale of the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9" y="5299319"/>
            <a:ext cx="3219898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Billions of dollars are lost globally every year to credit card fraud, affecting consumers, merchants and financial institutions.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38890" y="3585572"/>
            <a:ext cx="3863283" cy="4852397"/>
            <a:chOff x="0" y="0"/>
            <a:chExt cx="5151044" cy="64698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50993" cy="6469888"/>
            </a:xfrm>
            <a:custGeom>
              <a:avLst/>
              <a:gdLst/>
              <a:ahLst/>
              <a:cxnLst/>
              <a:rect r="r" b="b" t="t" l="l"/>
              <a:pathLst>
                <a:path h="6469888" w="51509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6226048"/>
                  </a:lnTo>
                  <a:cubicBezTo>
                    <a:pt x="5150993" y="6360668"/>
                    <a:pt x="5041773" y="6469888"/>
                    <a:pt x="4907153" y="6469888"/>
                  </a:cubicBezTo>
                  <a:lnTo>
                    <a:pt x="243840" y="6469888"/>
                  </a:lnTo>
                  <a:cubicBezTo>
                    <a:pt x="109220" y="6469888"/>
                    <a:pt x="0" y="6360668"/>
                    <a:pt x="0" y="6226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38890" y="3547472"/>
            <a:ext cx="3863283" cy="152400"/>
            <a:chOff x="0" y="0"/>
            <a:chExt cx="5151044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45250" y="3160366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00339" y="3268266"/>
            <a:ext cx="340223" cy="5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60502" y="4275239"/>
            <a:ext cx="3220041" cy="9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Account Takeover Fraud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60502" y="5299319"/>
            <a:ext cx="3220041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thief steals existing card credentials and makes unauthorized purchases on the victim's account.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85684" y="3585572"/>
            <a:ext cx="3863283" cy="4852397"/>
            <a:chOff x="0" y="0"/>
            <a:chExt cx="5151044" cy="64698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0993" cy="6469888"/>
            </a:xfrm>
            <a:custGeom>
              <a:avLst/>
              <a:gdLst/>
              <a:ahLst/>
              <a:cxnLst/>
              <a:rect r="r" b="b" t="t" l="l"/>
              <a:pathLst>
                <a:path h="6469888" w="51509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6226048"/>
                  </a:lnTo>
                  <a:cubicBezTo>
                    <a:pt x="5150993" y="6360668"/>
                    <a:pt x="5041773" y="6469888"/>
                    <a:pt x="4907153" y="6469888"/>
                  </a:cubicBezTo>
                  <a:lnTo>
                    <a:pt x="243840" y="6469888"/>
                  </a:lnTo>
                  <a:cubicBezTo>
                    <a:pt x="109220" y="6469888"/>
                    <a:pt x="0" y="6360668"/>
                    <a:pt x="0" y="6226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285684" y="3547472"/>
            <a:ext cx="3863283" cy="152400"/>
            <a:chOff x="0" y="0"/>
            <a:chExt cx="5151044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792044" y="3160366"/>
            <a:ext cx="850554" cy="850554"/>
            <a:chOff x="0" y="0"/>
            <a:chExt cx="1134072" cy="1134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047143" y="3268266"/>
            <a:ext cx="340223" cy="5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07306" y="4275239"/>
            <a:ext cx="3220041" cy="9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New Account Fraud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7306" y="5299319"/>
            <a:ext cx="3220041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thief uses stolen identity information to open a brand new credit card account in someone else's name.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432479" y="3585572"/>
            <a:ext cx="3863283" cy="4852397"/>
            <a:chOff x="0" y="0"/>
            <a:chExt cx="5151044" cy="64698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0993" cy="6469888"/>
            </a:xfrm>
            <a:custGeom>
              <a:avLst/>
              <a:gdLst/>
              <a:ahLst/>
              <a:cxnLst/>
              <a:rect r="r" b="b" t="t" l="l"/>
              <a:pathLst>
                <a:path h="6469888" w="51509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6226048"/>
                  </a:lnTo>
                  <a:cubicBezTo>
                    <a:pt x="5150993" y="6360668"/>
                    <a:pt x="5041773" y="6469888"/>
                    <a:pt x="4907153" y="6469888"/>
                  </a:cubicBezTo>
                  <a:lnTo>
                    <a:pt x="243840" y="6469888"/>
                  </a:lnTo>
                  <a:cubicBezTo>
                    <a:pt x="109220" y="6469888"/>
                    <a:pt x="0" y="6360668"/>
                    <a:pt x="0" y="6226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32479" y="3547472"/>
            <a:ext cx="3863283" cy="152400"/>
            <a:chOff x="0" y="0"/>
            <a:chExt cx="5151044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938848" y="3160366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5193937" y="3268266"/>
            <a:ext cx="340223" cy="5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54100" y="4275239"/>
            <a:ext cx="3220041" cy="9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Why it Keeps Growing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54100" y="5299319"/>
            <a:ext cx="3220041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Digital payments, stolen credentials and automated attacks make fraud easier to scale than ever before.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65747"/>
            <a:ext cx="15825635" cy="9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Current ML Models Fail at Fraud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126411"/>
            <a:ext cx="3863130" cy="3956599"/>
            <a:chOff x="0" y="0"/>
            <a:chExt cx="5150841" cy="52754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0866" cy="5275453"/>
            </a:xfrm>
            <a:custGeom>
              <a:avLst/>
              <a:gdLst/>
              <a:ahLst/>
              <a:cxnLst/>
              <a:rect r="r" b="b" t="t" l="l"/>
              <a:pathLst>
                <a:path h="5275453" w="515086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026" y="0"/>
                  </a:lnTo>
                  <a:cubicBezTo>
                    <a:pt x="5041646" y="0"/>
                    <a:pt x="5150866" y="109220"/>
                    <a:pt x="5150866" y="243840"/>
                  </a:cubicBezTo>
                  <a:lnTo>
                    <a:pt x="5150866" y="5031613"/>
                  </a:lnTo>
                  <a:cubicBezTo>
                    <a:pt x="5150866" y="5166233"/>
                    <a:pt x="5041646" y="5275453"/>
                    <a:pt x="4907026" y="5275453"/>
                  </a:cubicBezTo>
                  <a:lnTo>
                    <a:pt x="243840" y="5275453"/>
                  </a:lnTo>
                  <a:cubicBezTo>
                    <a:pt x="109220" y="5275453"/>
                    <a:pt x="0" y="5166233"/>
                    <a:pt x="0" y="50316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4088311"/>
            <a:ext cx="3863130" cy="152400"/>
            <a:chOff x="0" y="0"/>
            <a:chExt cx="5150841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0866" cy="203327"/>
            </a:xfrm>
            <a:custGeom>
              <a:avLst/>
              <a:gdLst/>
              <a:ahLst/>
              <a:cxnLst/>
              <a:rect r="r" b="b" t="t" l="l"/>
              <a:pathLst>
                <a:path h="203327" w="515086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097" y="0"/>
                  </a:lnTo>
                  <a:cubicBezTo>
                    <a:pt x="5125466" y="0"/>
                    <a:pt x="5150866" y="25400"/>
                    <a:pt x="5150866" y="56769"/>
                  </a:cubicBezTo>
                  <a:lnTo>
                    <a:pt x="5150866" y="146558"/>
                  </a:lnTo>
                  <a:cubicBezTo>
                    <a:pt x="5150866" y="177927"/>
                    <a:pt x="5125466" y="203327"/>
                    <a:pt x="5094097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98455" y="3701205"/>
            <a:ext cx="850554" cy="850554"/>
            <a:chOff x="0" y="0"/>
            <a:chExt cx="1134072" cy="1134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2753544" y="395629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3859" y="4816078"/>
            <a:ext cx="3219898" cy="9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Rigid rule-based systems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9" y="5840168"/>
            <a:ext cx="3219898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They miss evolving fraud patterns and adapt too slowly.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38890" y="4126411"/>
            <a:ext cx="3863283" cy="3956599"/>
            <a:chOff x="0" y="0"/>
            <a:chExt cx="5151044" cy="52754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50993" cy="5275453"/>
            </a:xfrm>
            <a:custGeom>
              <a:avLst/>
              <a:gdLst/>
              <a:ahLst/>
              <a:cxnLst/>
              <a:rect r="r" b="b" t="t" l="l"/>
              <a:pathLst>
                <a:path h="5275453" w="51509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5031613"/>
                  </a:lnTo>
                  <a:cubicBezTo>
                    <a:pt x="5150993" y="5166233"/>
                    <a:pt x="5041773" y="5275453"/>
                    <a:pt x="4907153" y="5275453"/>
                  </a:cubicBezTo>
                  <a:lnTo>
                    <a:pt x="243840" y="5275453"/>
                  </a:lnTo>
                  <a:cubicBezTo>
                    <a:pt x="109220" y="5275453"/>
                    <a:pt x="0" y="5166233"/>
                    <a:pt x="0" y="50316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38890" y="4088311"/>
            <a:ext cx="3863283" cy="152400"/>
            <a:chOff x="0" y="0"/>
            <a:chExt cx="5151044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45250" y="3701205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6900339" y="395629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1111" t="0" r="-11108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60502" y="4816078"/>
            <a:ext cx="3220041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Class imbalance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60502" y="5375072"/>
            <a:ext cx="3220041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Fraud cases are rare, so models can look accurate while still missing attacks.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85684" y="4126411"/>
            <a:ext cx="3863283" cy="3956599"/>
            <a:chOff x="0" y="0"/>
            <a:chExt cx="5151044" cy="52754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0993" cy="5275453"/>
            </a:xfrm>
            <a:custGeom>
              <a:avLst/>
              <a:gdLst/>
              <a:ahLst/>
              <a:cxnLst/>
              <a:rect r="r" b="b" t="t" l="l"/>
              <a:pathLst>
                <a:path h="5275453" w="51509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5031613"/>
                  </a:lnTo>
                  <a:cubicBezTo>
                    <a:pt x="5150993" y="5166233"/>
                    <a:pt x="5041773" y="5275453"/>
                    <a:pt x="4907153" y="5275453"/>
                  </a:cubicBezTo>
                  <a:lnTo>
                    <a:pt x="243840" y="5275453"/>
                  </a:lnTo>
                  <a:cubicBezTo>
                    <a:pt x="109220" y="5275453"/>
                    <a:pt x="0" y="5166233"/>
                    <a:pt x="0" y="50316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285684" y="4088311"/>
            <a:ext cx="3863283" cy="152400"/>
            <a:chOff x="0" y="0"/>
            <a:chExt cx="5151044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792044" y="3701205"/>
            <a:ext cx="850554" cy="850554"/>
            <a:chOff x="0" y="0"/>
            <a:chExt cx="1134072" cy="1134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1047143" y="395629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607306" y="4816078"/>
            <a:ext cx="3220041" cy="141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Wrong optimization objective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7306" y="6305255"/>
            <a:ext cx="3220041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Accuracy alone is not enough when false negatives are costly.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432479" y="4126411"/>
            <a:ext cx="3863283" cy="3956599"/>
            <a:chOff x="0" y="0"/>
            <a:chExt cx="5151044" cy="52754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0993" cy="5275453"/>
            </a:xfrm>
            <a:custGeom>
              <a:avLst/>
              <a:gdLst/>
              <a:ahLst/>
              <a:cxnLst/>
              <a:rect r="r" b="b" t="t" l="l"/>
              <a:pathLst>
                <a:path h="5275453" w="51509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5031613"/>
                  </a:lnTo>
                  <a:cubicBezTo>
                    <a:pt x="5150993" y="5166233"/>
                    <a:pt x="5041773" y="5275453"/>
                    <a:pt x="4907153" y="5275453"/>
                  </a:cubicBezTo>
                  <a:lnTo>
                    <a:pt x="243840" y="5275453"/>
                  </a:lnTo>
                  <a:cubicBezTo>
                    <a:pt x="109220" y="5275453"/>
                    <a:pt x="0" y="5166233"/>
                    <a:pt x="0" y="50316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32479" y="4088311"/>
            <a:ext cx="3863283" cy="152400"/>
            <a:chOff x="0" y="0"/>
            <a:chExt cx="5151044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1120" cy="203327"/>
            </a:xfrm>
            <a:custGeom>
              <a:avLst/>
              <a:gdLst/>
              <a:ahLst/>
              <a:cxnLst/>
              <a:rect r="r" b="b" t="t" l="l"/>
              <a:pathLst>
                <a:path h="203327" w="515112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5094351" y="0"/>
                  </a:lnTo>
                  <a:cubicBezTo>
                    <a:pt x="5125720" y="0"/>
                    <a:pt x="5151120" y="25400"/>
                    <a:pt x="5151120" y="56769"/>
                  </a:cubicBezTo>
                  <a:lnTo>
                    <a:pt x="5151120" y="146558"/>
                  </a:lnTo>
                  <a:cubicBezTo>
                    <a:pt x="5151120" y="177927"/>
                    <a:pt x="5125720" y="203327"/>
                    <a:pt x="5094351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938848" y="3701205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5193937" y="3956294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54" t="0" r="-5557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754100" y="4816078"/>
            <a:ext cx="3220041" cy="94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Signals buried in noise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54100" y="5840168"/>
            <a:ext cx="3220041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Fraud indicators are subtle and often hidden among legitimate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6191" y="923630"/>
            <a:ext cx="11515430" cy="82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DATASET: ULB Credit Card Fraud 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6191" y="2388241"/>
            <a:ext cx="8102356" cy="66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>
                <a:solidFill>
                  <a:srgbClr val="F44444"/>
                </a:solidFill>
                <a:latin typeface="PT Serif"/>
                <a:ea typeface="PT Serif"/>
                <a:cs typeface="PT Serif"/>
                <a:sym typeface="PT Serif"/>
              </a:rPr>
              <a:t>284,807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02359" y="3301898"/>
            <a:ext cx="3130001" cy="4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TRANSACTIONS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6191" y="3784702"/>
            <a:ext cx="8102356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 total for the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69168" y="2388241"/>
            <a:ext cx="8102498" cy="66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>
                <a:solidFill>
                  <a:srgbClr val="F44444"/>
                </a:solidFill>
                <a:latin typeface="PT Serif"/>
                <a:ea typeface="PT Serif"/>
                <a:cs typeface="PT Serif"/>
                <a:sym typeface="PT Serif"/>
              </a:rPr>
              <a:t>492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55336" y="3301898"/>
            <a:ext cx="3130001" cy="4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FRAUD CASES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69168" y="3784702"/>
            <a:ext cx="8102498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0.172% of total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6191" y="4827537"/>
            <a:ext cx="8102356" cy="66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>
                <a:solidFill>
                  <a:srgbClr val="F44444"/>
                </a:solidFill>
                <a:latin typeface="PT Serif"/>
                <a:ea typeface="PT Serif"/>
                <a:cs typeface="PT Serif"/>
                <a:sym typeface="PT Serif"/>
              </a:rPr>
              <a:t>31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02359" y="5741194"/>
            <a:ext cx="3130001" cy="4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191" y="6223997"/>
            <a:ext cx="8102356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V1–V28, Time, Amount, Class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69168" y="4827537"/>
            <a:ext cx="8102498" cy="66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187">
                <a:solidFill>
                  <a:srgbClr val="F44444"/>
                </a:solidFill>
                <a:latin typeface="PT Serif"/>
                <a:ea typeface="PT Serif"/>
                <a:cs typeface="PT Serif"/>
                <a:sym typeface="PT Serif"/>
              </a:rPr>
              <a:t>150MB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55336" y="5741194"/>
            <a:ext cx="3130001" cy="4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 b="true">
                <a:solidFill>
                  <a:srgbClr val="383838"/>
                </a:solidFill>
                <a:latin typeface="PT Serif Bold"/>
                <a:ea typeface="PT Serif Bold"/>
                <a:cs typeface="PT Serif Bold"/>
                <a:sym typeface="PT Serif Bold"/>
              </a:rPr>
              <a:t>FILE SIZE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69168" y="6223997"/>
            <a:ext cx="8102498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Exceeds 100MB requirement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6191" y="7029745"/>
            <a:ext cx="3357115" cy="4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FEATURE BREAKDOWN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6191" y="7592768"/>
            <a:ext cx="7936859" cy="166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b="true" sz="1874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V1–V28</a:t>
            </a: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PCA-transformed for confidentiality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b="true" sz="1874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Amount</a:t>
            </a: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transaction value in Euros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b="true" sz="1874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Time</a:t>
            </a: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converted to Hour-of-Day (0–23)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b="true" sz="1874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Class</a:t>
            </a: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1 = Fraud, 0 = Legitimate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4190" y="7029745"/>
            <a:ext cx="3130001" cy="4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DATA QUALITY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4190" y="7592768"/>
            <a:ext cx="7936859" cy="166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Zero missing values across all 31 columns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1,081 duplicate rows removed during cleaning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All features numeric — no encoding needed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Amount skew = 17.29 before scaling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65507"/>
            <a:ext cx="10755068" cy="9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EXPLORATORY DATA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28297"/>
            <a:ext cx="4142480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020202"/>
                </a:solidFill>
                <a:latin typeface="PT Serif Bold"/>
                <a:ea typeface="PT Serif Bold"/>
                <a:cs typeface="PT Serif Bold"/>
                <a:sym typeface="PT Serif Bold"/>
              </a:rPr>
              <a:t>Key findings from EDA: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4138" y="3399530"/>
            <a:ext cx="76200" cy="1788766"/>
            <a:chOff x="0" y="0"/>
            <a:chExt cx="101600" cy="23850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2385060"/>
            </a:xfrm>
            <a:custGeom>
              <a:avLst/>
              <a:gdLst/>
              <a:ahLst/>
              <a:cxnLst/>
              <a:rect r="r" b="b" t="t" l="l"/>
              <a:pathLst>
                <a:path h="238506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385060"/>
                  </a:lnTo>
                  <a:lnTo>
                    <a:pt x="0" y="2385060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1959" y="3418580"/>
            <a:ext cx="3721303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AMOUNT PATTERN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1959" y="3977583"/>
            <a:ext cx="76147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Fraud median = $9.25 vs. legitimate = $22.00.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1959" y="4601318"/>
            <a:ext cx="76147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Fraudsters keep amounts small to avoid detection.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3008" y="3399530"/>
            <a:ext cx="76200" cy="1788766"/>
            <a:chOff x="0" y="0"/>
            <a:chExt cx="101600" cy="23850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" cy="2385060"/>
            </a:xfrm>
            <a:custGeom>
              <a:avLst/>
              <a:gdLst/>
              <a:ahLst/>
              <a:cxnLst/>
              <a:rect r="r" b="b" t="t" l="l"/>
              <a:pathLst>
                <a:path h="238506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385060"/>
                  </a:lnTo>
                  <a:lnTo>
                    <a:pt x="0" y="2385060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80819" y="3418580"/>
            <a:ext cx="3721303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TIME PATTERN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80819" y="3977583"/>
            <a:ext cx="761494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Fraud peaks at hours 2 and 11 i.e late night and mid-morning when monitoring may be lower.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4138" y="5679129"/>
            <a:ext cx="76200" cy="1165022"/>
            <a:chOff x="0" y="0"/>
            <a:chExt cx="101600" cy="15533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" cy="1553337"/>
            </a:xfrm>
            <a:custGeom>
              <a:avLst/>
              <a:gdLst/>
              <a:ahLst/>
              <a:cxnLst/>
              <a:rect r="r" b="b" t="t" l="l"/>
              <a:pathLst>
                <a:path h="1553337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553337"/>
                  </a:lnTo>
                  <a:lnTo>
                    <a:pt x="0" y="1553337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51959" y="5698179"/>
            <a:ext cx="4199334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FEATURE CORRELATION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1959" y="6257182"/>
            <a:ext cx="1594381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V14 (−0.30) and V17 (−0.33) most negatively correlated with fraud. Later confirmed by Random Forest importance.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124995"/>
            <a:ext cx="16303523" cy="1658388"/>
            <a:chOff x="0" y="0"/>
            <a:chExt cx="21738031" cy="22111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81" cy="2211197"/>
            </a:xfrm>
            <a:custGeom>
              <a:avLst/>
              <a:gdLst/>
              <a:ahLst/>
              <a:cxnLst/>
              <a:rect r="r" b="b" t="t" l="l"/>
              <a:pathLst>
                <a:path h="2211197" w="2173808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154428"/>
                  </a:lnTo>
                  <a:cubicBezTo>
                    <a:pt x="21738081" y="2185797"/>
                    <a:pt x="21712681" y="2211197"/>
                    <a:pt x="21681312" y="2211197"/>
                  </a:cubicBezTo>
                  <a:lnTo>
                    <a:pt x="56769" y="2211197"/>
                  </a:lnTo>
                  <a:cubicBezTo>
                    <a:pt x="25400" y="2211197"/>
                    <a:pt x="0" y="2185797"/>
                    <a:pt x="0" y="2154428"/>
                  </a:cubicBezTo>
                  <a:close/>
                </a:path>
              </a:pathLst>
            </a:custGeom>
            <a:solidFill>
              <a:srgbClr val="FFCDB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75759" y="7384104"/>
            <a:ext cx="1573649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CLASS: 99.83% legitimate vs. 0.17% fraud  IMBALANCE CONFIRMED which is a 578:1 ratio which confirmed that SMOTE(Synthetic Minority Oversampling Technique) was essential and accuracy would be misleading throughout.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74591" y="1353293"/>
            <a:ext cx="6106563" cy="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PREPROCESSING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815085" y="2225878"/>
            <a:ext cx="19050" cy="6060577"/>
            <a:chOff x="0" y="0"/>
            <a:chExt cx="25400" cy="80807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8080756"/>
            </a:xfrm>
            <a:custGeom>
              <a:avLst/>
              <a:gdLst/>
              <a:ahLst/>
              <a:cxnLst/>
              <a:rect r="r" b="b" t="t" l="l"/>
              <a:pathLst>
                <a:path h="8080756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8068056"/>
                  </a:lnTo>
                  <a:cubicBezTo>
                    <a:pt x="25400" y="8075041"/>
                    <a:pt x="19685" y="8080756"/>
                    <a:pt x="12700" y="8080756"/>
                  </a:cubicBezTo>
                  <a:cubicBezTo>
                    <a:pt x="5715" y="8080756"/>
                    <a:pt x="0" y="8075041"/>
                    <a:pt x="0" y="8068056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96035" y="2880865"/>
            <a:ext cx="562423" cy="19050"/>
            <a:chOff x="0" y="0"/>
            <a:chExt cx="749897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9935" cy="25400"/>
            </a:xfrm>
            <a:custGeom>
              <a:avLst/>
              <a:gdLst/>
              <a:ahLst/>
              <a:cxnLst/>
              <a:rect r="r" b="b" t="t" l="l"/>
              <a:pathLst>
                <a:path h="25400" w="7499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7235" y="0"/>
                  </a:lnTo>
                  <a:cubicBezTo>
                    <a:pt x="744220" y="0"/>
                    <a:pt x="749935" y="5715"/>
                    <a:pt x="749935" y="12700"/>
                  </a:cubicBezTo>
                  <a:cubicBezTo>
                    <a:pt x="749935" y="19685"/>
                    <a:pt x="744220" y="25400"/>
                    <a:pt x="73723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44838" y="2820143"/>
            <a:ext cx="140494" cy="140494"/>
            <a:chOff x="0" y="0"/>
            <a:chExt cx="187325" cy="1873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7325" cy="187325"/>
            </a:xfrm>
            <a:custGeom>
              <a:avLst/>
              <a:gdLst/>
              <a:ahLst/>
              <a:cxnLst/>
              <a:rect r="r" b="b" t="t" l="l"/>
              <a:pathLst>
                <a:path h="187325" w="187325">
                  <a:moveTo>
                    <a:pt x="0" y="93726"/>
                  </a:moveTo>
                  <a:cubicBezTo>
                    <a:pt x="0" y="41910"/>
                    <a:pt x="41910" y="0"/>
                    <a:pt x="93599" y="0"/>
                  </a:cubicBezTo>
                  <a:cubicBezTo>
                    <a:pt x="145288" y="0"/>
                    <a:pt x="187198" y="41910"/>
                    <a:pt x="187325" y="93599"/>
                  </a:cubicBezTo>
                  <a:cubicBezTo>
                    <a:pt x="187452" y="145288"/>
                    <a:pt x="145415" y="187325"/>
                    <a:pt x="93599" y="187325"/>
                  </a:cubicBezTo>
                  <a:cubicBezTo>
                    <a:pt x="41783" y="187325"/>
                    <a:pt x="0" y="145415"/>
                    <a:pt x="0" y="937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377651" y="2225878"/>
            <a:ext cx="12235605" cy="1329185"/>
            <a:chOff x="0" y="0"/>
            <a:chExt cx="16314141" cy="17722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14165" cy="1772158"/>
            </a:xfrm>
            <a:custGeom>
              <a:avLst/>
              <a:gdLst/>
              <a:ahLst/>
              <a:cxnLst/>
              <a:rect r="r" b="b" t="t" l="l"/>
              <a:pathLst>
                <a:path h="1772158" w="16314165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16276701" y="0"/>
                  </a:lnTo>
                  <a:cubicBezTo>
                    <a:pt x="16297402" y="0"/>
                    <a:pt x="16314165" y="16764"/>
                    <a:pt x="16314165" y="37465"/>
                  </a:cubicBezTo>
                  <a:lnTo>
                    <a:pt x="16314165" y="1734693"/>
                  </a:lnTo>
                  <a:cubicBezTo>
                    <a:pt x="16314165" y="1755394"/>
                    <a:pt x="16297402" y="1772158"/>
                    <a:pt x="16276701" y="1772158"/>
                  </a:cubicBezTo>
                  <a:lnTo>
                    <a:pt x="37465" y="1772158"/>
                  </a:lnTo>
                  <a:cubicBezTo>
                    <a:pt x="16764" y="1772158"/>
                    <a:pt x="0" y="1755394"/>
                    <a:pt x="0" y="173469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565027" y="2413244"/>
            <a:ext cx="2461174" cy="30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Clean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65027" y="2776090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Remove 1,081 duplicates. Derive Hour from Time, then drop raw Time.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65027" y="3099492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Duplicates bias the model by overrepresenting certain transactions.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796035" y="4457995"/>
            <a:ext cx="562423" cy="19050"/>
            <a:chOff x="0" y="0"/>
            <a:chExt cx="749897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9935" cy="25400"/>
            </a:xfrm>
            <a:custGeom>
              <a:avLst/>
              <a:gdLst/>
              <a:ahLst/>
              <a:cxnLst/>
              <a:rect r="r" b="b" t="t" l="l"/>
              <a:pathLst>
                <a:path h="25400" w="7499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7235" y="0"/>
                  </a:lnTo>
                  <a:cubicBezTo>
                    <a:pt x="744220" y="0"/>
                    <a:pt x="749935" y="5715"/>
                    <a:pt x="749935" y="12700"/>
                  </a:cubicBezTo>
                  <a:cubicBezTo>
                    <a:pt x="749935" y="19685"/>
                    <a:pt x="744220" y="25400"/>
                    <a:pt x="73723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44838" y="4397273"/>
            <a:ext cx="140494" cy="140494"/>
            <a:chOff x="0" y="0"/>
            <a:chExt cx="187325" cy="1873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325" cy="187325"/>
            </a:xfrm>
            <a:custGeom>
              <a:avLst/>
              <a:gdLst/>
              <a:ahLst/>
              <a:cxnLst/>
              <a:rect r="r" b="b" t="t" l="l"/>
              <a:pathLst>
                <a:path h="187325" w="187325">
                  <a:moveTo>
                    <a:pt x="0" y="93726"/>
                  </a:moveTo>
                  <a:cubicBezTo>
                    <a:pt x="0" y="41910"/>
                    <a:pt x="41910" y="0"/>
                    <a:pt x="93599" y="0"/>
                  </a:cubicBezTo>
                  <a:cubicBezTo>
                    <a:pt x="145288" y="0"/>
                    <a:pt x="187198" y="41910"/>
                    <a:pt x="187325" y="93599"/>
                  </a:cubicBezTo>
                  <a:cubicBezTo>
                    <a:pt x="187452" y="145288"/>
                    <a:pt x="145415" y="187325"/>
                    <a:pt x="93599" y="187325"/>
                  </a:cubicBezTo>
                  <a:cubicBezTo>
                    <a:pt x="41783" y="187325"/>
                    <a:pt x="0" y="145415"/>
                    <a:pt x="0" y="937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77651" y="3803009"/>
            <a:ext cx="12235605" cy="1329185"/>
            <a:chOff x="0" y="0"/>
            <a:chExt cx="16314141" cy="17722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314165" cy="1772158"/>
            </a:xfrm>
            <a:custGeom>
              <a:avLst/>
              <a:gdLst/>
              <a:ahLst/>
              <a:cxnLst/>
              <a:rect r="r" b="b" t="t" l="l"/>
              <a:pathLst>
                <a:path h="1772158" w="16314165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16276701" y="0"/>
                  </a:lnTo>
                  <a:cubicBezTo>
                    <a:pt x="16297402" y="0"/>
                    <a:pt x="16314165" y="16764"/>
                    <a:pt x="16314165" y="37465"/>
                  </a:cubicBezTo>
                  <a:lnTo>
                    <a:pt x="16314165" y="1734693"/>
                  </a:lnTo>
                  <a:cubicBezTo>
                    <a:pt x="16314165" y="1755394"/>
                    <a:pt x="16297402" y="1772158"/>
                    <a:pt x="16276701" y="1772158"/>
                  </a:cubicBezTo>
                  <a:lnTo>
                    <a:pt x="37465" y="1772158"/>
                  </a:lnTo>
                  <a:cubicBezTo>
                    <a:pt x="16764" y="1772158"/>
                    <a:pt x="0" y="1755394"/>
                    <a:pt x="0" y="173469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565027" y="3990384"/>
            <a:ext cx="2461174" cy="30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Split first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65027" y="4353220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80/20 stratified split before any scaling or resampling.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65027" y="4676623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Splitting before scaling prevents data leakage. Test statistics must never influence training transformations.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796035" y="6035126"/>
            <a:ext cx="562423" cy="19050"/>
            <a:chOff x="0" y="0"/>
            <a:chExt cx="749897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9935" cy="25400"/>
            </a:xfrm>
            <a:custGeom>
              <a:avLst/>
              <a:gdLst/>
              <a:ahLst/>
              <a:cxnLst/>
              <a:rect r="r" b="b" t="t" l="l"/>
              <a:pathLst>
                <a:path h="25400" w="7499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7235" y="0"/>
                  </a:lnTo>
                  <a:cubicBezTo>
                    <a:pt x="744220" y="0"/>
                    <a:pt x="749935" y="5715"/>
                    <a:pt x="749935" y="12700"/>
                  </a:cubicBezTo>
                  <a:cubicBezTo>
                    <a:pt x="749935" y="19685"/>
                    <a:pt x="744220" y="25400"/>
                    <a:pt x="73723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744838" y="5974404"/>
            <a:ext cx="140494" cy="140494"/>
            <a:chOff x="0" y="0"/>
            <a:chExt cx="187325" cy="1873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7325" cy="187325"/>
            </a:xfrm>
            <a:custGeom>
              <a:avLst/>
              <a:gdLst/>
              <a:ahLst/>
              <a:cxnLst/>
              <a:rect r="r" b="b" t="t" l="l"/>
              <a:pathLst>
                <a:path h="187325" w="187325">
                  <a:moveTo>
                    <a:pt x="0" y="93726"/>
                  </a:moveTo>
                  <a:cubicBezTo>
                    <a:pt x="0" y="41910"/>
                    <a:pt x="41910" y="0"/>
                    <a:pt x="93599" y="0"/>
                  </a:cubicBezTo>
                  <a:cubicBezTo>
                    <a:pt x="145288" y="0"/>
                    <a:pt x="187198" y="41910"/>
                    <a:pt x="187325" y="93599"/>
                  </a:cubicBezTo>
                  <a:cubicBezTo>
                    <a:pt x="187452" y="145288"/>
                    <a:pt x="145415" y="187325"/>
                    <a:pt x="93599" y="187325"/>
                  </a:cubicBezTo>
                  <a:cubicBezTo>
                    <a:pt x="41783" y="187325"/>
                    <a:pt x="0" y="145415"/>
                    <a:pt x="0" y="937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377651" y="5380139"/>
            <a:ext cx="12235605" cy="1329185"/>
            <a:chOff x="0" y="0"/>
            <a:chExt cx="16314141" cy="1772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314165" cy="1772158"/>
            </a:xfrm>
            <a:custGeom>
              <a:avLst/>
              <a:gdLst/>
              <a:ahLst/>
              <a:cxnLst/>
              <a:rect r="r" b="b" t="t" l="l"/>
              <a:pathLst>
                <a:path h="1772158" w="16314165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16276701" y="0"/>
                  </a:lnTo>
                  <a:cubicBezTo>
                    <a:pt x="16297402" y="0"/>
                    <a:pt x="16314165" y="16764"/>
                    <a:pt x="16314165" y="37465"/>
                  </a:cubicBezTo>
                  <a:lnTo>
                    <a:pt x="16314165" y="1734693"/>
                  </a:lnTo>
                  <a:cubicBezTo>
                    <a:pt x="16314165" y="1755394"/>
                    <a:pt x="16297402" y="1772158"/>
                    <a:pt x="16276701" y="1772158"/>
                  </a:cubicBezTo>
                  <a:lnTo>
                    <a:pt x="37465" y="1772158"/>
                  </a:lnTo>
                  <a:cubicBezTo>
                    <a:pt x="16764" y="1772158"/>
                    <a:pt x="0" y="1755394"/>
                    <a:pt x="0" y="173469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3565027" y="5567515"/>
            <a:ext cx="2461174" cy="30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Scale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65027" y="5930351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StandardScaler on Amount and Hour only. fit_transform on train, transform on test.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65027" y="6253753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V1–V28 already PCA-scaled. After scaling: mean ≈ 0, std ≈ 1 confirmed for both features.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796035" y="7612266"/>
            <a:ext cx="562423" cy="19050"/>
            <a:chOff x="0" y="0"/>
            <a:chExt cx="749897" cy="25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9935" cy="25400"/>
            </a:xfrm>
            <a:custGeom>
              <a:avLst/>
              <a:gdLst/>
              <a:ahLst/>
              <a:cxnLst/>
              <a:rect r="r" b="b" t="t" l="l"/>
              <a:pathLst>
                <a:path h="25400" w="74993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7235" y="0"/>
                  </a:lnTo>
                  <a:cubicBezTo>
                    <a:pt x="744220" y="0"/>
                    <a:pt x="749935" y="5715"/>
                    <a:pt x="749935" y="12700"/>
                  </a:cubicBezTo>
                  <a:cubicBezTo>
                    <a:pt x="749935" y="19685"/>
                    <a:pt x="744220" y="25400"/>
                    <a:pt x="73723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744838" y="7551534"/>
            <a:ext cx="140494" cy="140494"/>
            <a:chOff x="0" y="0"/>
            <a:chExt cx="187325" cy="1873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7325" cy="187325"/>
            </a:xfrm>
            <a:custGeom>
              <a:avLst/>
              <a:gdLst/>
              <a:ahLst/>
              <a:cxnLst/>
              <a:rect r="r" b="b" t="t" l="l"/>
              <a:pathLst>
                <a:path h="187325" w="187325">
                  <a:moveTo>
                    <a:pt x="0" y="93726"/>
                  </a:moveTo>
                  <a:cubicBezTo>
                    <a:pt x="0" y="41910"/>
                    <a:pt x="41910" y="0"/>
                    <a:pt x="93599" y="0"/>
                  </a:cubicBezTo>
                  <a:cubicBezTo>
                    <a:pt x="145288" y="0"/>
                    <a:pt x="187198" y="41910"/>
                    <a:pt x="187325" y="93599"/>
                  </a:cubicBezTo>
                  <a:cubicBezTo>
                    <a:pt x="187452" y="145288"/>
                    <a:pt x="145415" y="187325"/>
                    <a:pt x="93599" y="187325"/>
                  </a:cubicBezTo>
                  <a:cubicBezTo>
                    <a:pt x="41783" y="187325"/>
                    <a:pt x="0" y="145415"/>
                    <a:pt x="0" y="937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377651" y="6957270"/>
            <a:ext cx="12235605" cy="1329185"/>
            <a:chOff x="0" y="0"/>
            <a:chExt cx="16314141" cy="177224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314165" cy="1772158"/>
            </a:xfrm>
            <a:custGeom>
              <a:avLst/>
              <a:gdLst/>
              <a:ahLst/>
              <a:cxnLst/>
              <a:rect r="r" b="b" t="t" l="l"/>
              <a:pathLst>
                <a:path h="1772158" w="16314165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16276701" y="0"/>
                  </a:lnTo>
                  <a:cubicBezTo>
                    <a:pt x="16297402" y="0"/>
                    <a:pt x="16314165" y="16764"/>
                    <a:pt x="16314165" y="37465"/>
                  </a:cubicBezTo>
                  <a:lnTo>
                    <a:pt x="16314165" y="1734693"/>
                  </a:lnTo>
                  <a:cubicBezTo>
                    <a:pt x="16314165" y="1755394"/>
                    <a:pt x="16297402" y="1772158"/>
                    <a:pt x="16276701" y="1772158"/>
                  </a:cubicBezTo>
                  <a:lnTo>
                    <a:pt x="37465" y="1772158"/>
                  </a:lnTo>
                  <a:cubicBezTo>
                    <a:pt x="16764" y="1772158"/>
                    <a:pt x="0" y="1755394"/>
                    <a:pt x="0" y="173469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3565027" y="7144645"/>
            <a:ext cx="2461174" cy="30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SMOTE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65027" y="7507491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Applied to training set only. Balances 578:1 → 1:1 (226,602 each class).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565027" y="7830893"/>
            <a:ext cx="11860854" cy="2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Generates synthetic fraud samples by interpolating between real cases. Test set left unchanged to reflect real-world conditions.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74591" y="8406851"/>
            <a:ext cx="12938674" cy="51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Each step has a strict order: split before scaling prevents data leakage; SMOTE applied to training set only and test set left unchanged to reflect real-world conditions.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42422" y="1122016"/>
            <a:ext cx="6012066" cy="77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MODEL BUILDING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2422" y="2224535"/>
            <a:ext cx="15803166" cy="36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Four supervised classifiers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42422" y="2801836"/>
            <a:ext cx="7809014" cy="2809875"/>
            <a:chOff x="0" y="0"/>
            <a:chExt cx="10412019" cy="374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2095" cy="3746500"/>
            </a:xfrm>
            <a:custGeom>
              <a:avLst/>
              <a:gdLst/>
              <a:ahLst/>
              <a:cxnLst/>
              <a:rect r="r" b="b" t="t" l="l"/>
              <a:pathLst>
                <a:path h="3746500" w="10412095">
                  <a:moveTo>
                    <a:pt x="0" y="45847"/>
                  </a:moveTo>
                  <a:cubicBezTo>
                    <a:pt x="0" y="20574"/>
                    <a:pt x="20574" y="0"/>
                    <a:pt x="45847" y="0"/>
                  </a:cubicBezTo>
                  <a:lnTo>
                    <a:pt x="10366248" y="0"/>
                  </a:lnTo>
                  <a:cubicBezTo>
                    <a:pt x="10391521" y="0"/>
                    <a:pt x="10412095" y="20574"/>
                    <a:pt x="10412095" y="45847"/>
                  </a:cubicBezTo>
                  <a:lnTo>
                    <a:pt x="10412095" y="3700653"/>
                  </a:lnTo>
                  <a:cubicBezTo>
                    <a:pt x="10412095" y="3725926"/>
                    <a:pt x="10391521" y="3746500"/>
                    <a:pt x="10366248" y="3746500"/>
                  </a:cubicBezTo>
                  <a:lnTo>
                    <a:pt x="45847" y="3746500"/>
                  </a:lnTo>
                  <a:cubicBezTo>
                    <a:pt x="20574" y="3746500"/>
                    <a:pt x="0" y="3725926"/>
                    <a:pt x="0" y="370065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71317" y="3030741"/>
            <a:ext cx="686991" cy="686991"/>
            <a:chOff x="0" y="0"/>
            <a:chExt cx="915988" cy="9159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051" cy="916051"/>
            </a:xfrm>
            <a:custGeom>
              <a:avLst/>
              <a:gdLst/>
              <a:ahLst/>
              <a:cxnLst/>
              <a:rect r="r" b="b" t="t" l="l"/>
              <a:pathLst>
                <a:path h="916051" w="916051">
                  <a:moveTo>
                    <a:pt x="0" y="457962"/>
                  </a:moveTo>
                  <a:cubicBezTo>
                    <a:pt x="0" y="205105"/>
                    <a:pt x="205105" y="0"/>
                    <a:pt x="457962" y="0"/>
                  </a:cubicBezTo>
                  <a:cubicBezTo>
                    <a:pt x="710819" y="0"/>
                    <a:pt x="916051" y="205105"/>
                    <a:pt x="916051" y="457962"/>
                  </a:cubicBezTo>
                  <a:cubicBezTo>
                    <a:pt x="916051" y="710819"/>
                    <a:pt x="710946" y="916051"/>
                    <a:pt x="457962" y="916051"/>
                  </a:cubicBezTo>
                  <a:cubicBezTo>
                    <a:pt x="204978" y="916051"/>
                    <a:pt x="0" y="710946"/>
                    <a:pt x="0" y="4579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660179" y="3219602"/>
            <a:ext cx="309115" cy="309115"/>
          </a:xfrm>
          <a:custGeom>
            <a:avLst/>
            <a:gdLst/>
            <a:ahLst/>
            <a:cxnLst/>
            <a:rect r="r" b="b" t="t" l="l"/>
            <a:pathLst>
              <a:path h="309115" w="309115">
                <a:moveTo>
                  <a:pt x="0" y="0"/>
                </a:moveTo>
                <a:lnTo>
                  <a:pt x="309115" y="0"/>
                </a:lnTo>
                <a:lnTo>
                  <a:pt x="309115" y="309115"/>
                </a:lnTo>
                <a:lnTo>
                  <a:pt x="0" y="309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061" t="0" r="-606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71317" y="3893191"/>
            <a:ext cx="3221536" cy="3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LOGISTIC REGRESSION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1317" y="4351287"/>
            <a:ext cx="7351214" cy="103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Linear interpretable baseline. GridSearchCV tunes C ∈ [0.01–100] over 5-fold StratifiedKFold. class_weight='balanced' for extra imbalance protection.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6421" y="2801836"/>
            <a:ext cx="7809157" cy="2809875"/>
            <a:chOff x="0" y="0"/>
            <a:chExt cx="10412209" cy="3746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12222" cy="3746500"/>
            </a:xfrm>
            <a:custGeom>
              <a:avLst/>
              <a:gdLst/>
              <a:ahLst/>
              <a:cxnLst/>
              <a:rect r="r" b="b" t="t" l="l"/>
              <a:pathLst>
                <a:path h="3746500" w="10412222">
                  <a:moveTo>
                    <a:pt x="0" y="45847"/>
                  </a:moveTo>
                  <a:cubicBezTo>
                    <a:pt x="0" y="20574"/>
                    <a:pt x="20574" y="0"/>
                    <a:pt x="45847" y="0"/>
                  </a:cubicBezTo>
                  <a:lnTo>
                    <a:pt x="10366375" y="0"/>
                  </a:lnTo>
                  <a:cubicBezTo>
                    <a:pt x="10391648" y="0"/>
                    <a:pt x="10412222" y="20574"/>
                    <a:pt x="10412222" y="45847"/>
                  </a:cubicBezTo>
                  <a:lnTo>
                    <a:pt x="10412222" y="3700653"/>
                  </a:lnTo>
                  <a:cubicBezTo>
                    <a:pt x="10412222" y="3725926"/>
                    <a:pt x="10391648" y="3746500"/>
                    <a:pt x="10366375" y="3746500"/>
                  </a:cubicBezTo>
                  <a:lnTo>
                    <a:pt x="45847" y="3746500"/>
                  </a:lnTo>
                  <a:cubicBezTo>
                    <a:pt x="20574" y="3746500"/>
                    <a:pt x="0" y="3725926"/>
                    <a:pt x="0" y="370065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65316" y="3030741"/>
            <a:ext cx="686991" cy="686991"/>
            <a:chOff x="0" y="0"/>
            <a:chExt cx="915988" cy="9159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6051" cy="916051"/>
            </a:xfrm>
            <a:custGeom>
              <a:avLst/>
              <a:gdLst/>
              <a:ahLst/>
              <a:cxnLst/>
              <a:rect r="r" b="b" t="t" l="l"/>
              <a:pathLst>
                <a:path h="916051" w="916051">
                  <a:moveTo>
                    <a:pt x="0" y="457962"/>
                  </a:moveTo>
                  <a:cubicBezTo>
                    <a:pt x="0" y="205105"/>
                    <a:pt x="205105" y="0"/>
                    <a:pt x="457962" y="0"/>
                  </a:cubicBezTo>
                  <a:cubicBezTo>
                    <a:pt x="710819" y="0"/>
                    <a:pt x="916051" y="205105"/>
                    <a:pt x="916051" y="457962"/>
                  </a:cubicBezTo>
                  <a:cubicBezTo>
                    <a:pt x="916051" y="710819"/>
                    <a:pt x="710946" y="916051"/>
                    <a:pt x="457962" y="916051"/>
                  </a:cubicBezTo>
                  <a:cubicBezTo>
                    <a:pt x="204978" y="916051"/>
                    <a:pt x="0" y="710946"/>
                    <a:pt x="0" y="4579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54178" y="3219602"/>
            <a:ext cx="309115" cy="309115"/>
          </a:xfrm>
          <a:custGeom>
            <a:avLst/>
            <a:gdLst/>
            <a:ahLst/>
            <a:cxnLst/>
            <a:rect r="r" b="b" t="t" l="l"/>
            <a:pathLst>
              <a:path h="309115" w="309115">
                <a:moveTo>
                  <a:pt x="0" y="0"/>
                </a:moveTo>
                <a:lnTo>
                  <a:pt x="309115" y="0"/>
                </a:lnTo>
                <a:lnTo>
                  <a:pt x="309115" y="309115"/>
                </a:lnTo>
                <a:lnTo>
                  <a:pt x="0" y="309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028" r="0" b="-303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65316" y="3893191"/>
            <a:ext cx="3006033" cy="3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DECISION TREE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5316" y="4351287"/>
            <a:ext cx="7351366" cy="103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Most interpretable model where tree structure shows exactly which features drive each fraud prediction. Does not require feature scaling. Root split confirmed on V14.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42422" y="5796705"/>
            <a:ext cx="7809014" cy="2809875"/>
            <a:chOff x="0" y="0"/>
            <a:chExt cx="10412019" cy="3746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2095" cy="3746500"/>
            </a:xfrm>
            <a:custGeom>
              <a:avLst/>
              <a:gdLst/>
              <a:ahLst/>
              <a:cxnLst/>
              <a:rect r="r" b="b" t="t" l="l"/>
              <a:pathLst>
                <a:path h="3746500" w="10412095">
                  <a:moveTo>
                    <a:pt x="0" y="45847"/>
                  </a:moveTo>
                  <a:cubicBezTo>
                    <a:pt x="0" y="20574"/>
                    <a:pt x="20574" y="0"/>
                    <a:pt x="45847" y="0"/>
                  </a:cubicBezTo>
                  <a:lnTo>
                    <a:pt x="10366248" y="0"/>
                  </a:lnTo>
                  <a:cubicBezTo>
                    <a:pt x="10391521" y="0"/>
                    <a:pt x="10412095" y="20574"/>
                    <a:pt x="10412095" y="45847"/>
                  </a:cubicBezTo>
                  <a:lnTo>
                    <a:pt x="10412095" y="3700653"/>
                  </a:lnTo>
                  <a:cubicBezTo>
                    <a:pt x="10412095" y="3725926"/>
                    <a:pt x="10391521" y="3746500"/>
                    <a:pt x="10366248" y="3746500"/>
                  </a:cubicBezTo>
                  <a:lnTo>
                    <a:pt x="45847" y="3746500"/>
                  </a:lnTo>
                  <a:cubicBezTo>
                    <a:pt x="20574" y="3746500"/>
                    <a:pt x="0" y="3725926"/>
                    <a:pt x="0" y="370065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71317" y="6025601"/>
            <a:ext cx="686991" cy="686991"/>
            <a:chOff x="0" y="0"/>
            <a:chExt cx="915988" cy="9159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6051" cy="916051"/>
            </a:xfrm>
            <a:custGeom>
              <a:avLst/>
              <a:gdLst/>
              <a:ahLst/>
              <a:cxnLst/>
              <a:rect r="r" b="b" t="t" l="l"/>
              <a:pathLst>
                <a:path h="916051" w="916051">
                  <a:moveTo>
                    <a:pt x="0" y="457962"/>
                  </a:moveTo>
                  <a:cubicBezTo>
                    <a:pt x="0" y="205105"/>
                    <a:pt x="205105" y="0"/>
                    <a:pt x="457962" y="0"/>
                  </a:cubicBezTo>
                  <a:cubicBezTo>
                    <a:pt x="710819" y="0"/>
                    <a:pt x="916051" y="205105"/>
                    <a:pt x="916051" y="457962"/>
                  </a:cubicBezTo>
                  <a:cubicBezTo>
                    <a:pt x="916051" y="710819"/>
                    <a:pt x="710946" y="916051"/>
                    <a:pt x="457962" y="916051"/>
                  </a:cubicBezTo>
                  <a:cubicBezTo>
                    <a:pt x="204978" y="916051"/>
                    <a:pt x="0" y="710946"/>
                    <a:pt x="0" y="4579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660179" y="6214472"/>
            <a:ext cx="309115" cy="309115"/>
          </a:xfrm>
          <a:custGeom>
            <a:avLst/>
            <a:gdLst/>
            <a:ahLst/>
            <a:cxnLst/>
            <a:rect r="r" b="b" t="t" l="l"/>
            <a:pathLst>
              <a:path h="309115" w="309115">
                <a:moveTo>
                  <a:pt x="0" y="0"/>
                </a:moveTo>
                <a:lnTo>
                  <a:pt x="309115" y="0"/>
                </a:lnTo>
                <a:lnTo>
                  <a:pt x="309115" y="309115"/>
                </a:lnTo>
                <a:lnTo>
                  <a:pt x="0" y="309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71317" y="6888061"/>
            <a:ext cx="3006033" cy="3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RANDOM FOREST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1317" y="7346156"/>
            <a:ext cx="7351214" cy="103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Ensemble of 50 trees. Reduces overfitting vs. single tree. Feature importance confirms V14 as dominant predictor which consistent with EDA correlation findings.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36421" y="5796705"/>
            <a:ext cx="7809157" cy="2809875"/>
            <a:chOff x="0" y="0"/>
            <a:chExt cx="10412209" cy="3746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12222" cy="3746500"/>
            </a:xfrm>
            <a:custGeom>
              <a:avLst/>
              <a:gdLst/>
              <a:ahLst/>
              <a:cxnLst/>
              <a:rect r="r" b="b" t="t" l="l"/>
              <a:pathLst>
                <a:path h="3746500" w="10412222">
                  <a:moveTo>
                    <a:pt x="0" y="45847"/>
                  </a:moveTo>
                  <a:cubicBezTo>
                    <a:pt x="0" y="20574"/>
                    <a:pt x="20574" y="0"/>
                    <a:pt x="45847" y="0"/>
                  </a:cubicBezTo>
                  <a:lnTo>
                    <a:pt x="10366375" y="0"/>
                  </a:lnTo>
                  <a:cubicBezTo>
                    <a:pt x="10391648" y="0"/>
                    <a:pt x="10412222" y="20574"/>
                    <a:pt x="10412222" y="45847"/>
                  </a:cubicBezTo>
                  <a:lnTo>
                    <a:pt x="10412222" y="3700653"/>
                  </a:lnTo>
                  <a:cubicBezTo>
                    <a:pt x="10412222" y="3725926"/>
                    <a:pt x="10391648" y="3746500"/>
                    <a:pt x="10366375" y="3746500"/>
                  </a:cubicBezTo>
                  <a:lnTo>
                    <a:pt x="45847" y="3746500"/>
                  </a:lnTo>
                  <a:cubicBezTo>
                    <a:pt x="20574" y="3746500"/>
                    <a:pt x="0" y="3725926"/>
                    <a:pt x="0" y="370065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65316" y="6025601"/>
            <a:ext cx="686991" cy="686991"/>
            <a:chOff x="0" y="0"/>
            <a:chExt cx="915988" cy="9159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6051" cy="916051"/>
            </a:xfrm>
            <a:custGeom>
              <a:avLst/>
              <a:gdLst/>
              <a:ahLst/>
              <a:cxnLst/>
              <a:rect r="r" b="b" t="t" l="l"/>
              <a:pathLst>
                <a:path h="916051" w="916051">
                  <a:moveTo>
                    <a:pt x="0" y="457962"/>
                  </a:moveTo>
                  <a:cubicBezTo>
                    <a:pt x="0" y="205105"/>
                    <a:pt x="205105" y="0"/>
                    <a:pt x="457962" y="0"/>
                  </a:cubicBezTo>
                  <a:cubicBezTo>
                    <a:pt x="710819" y="0"/>
                    <a:pt x="916051" y="205105"/>
                    <a:pt x="916051" y="457962"/>
                  </a:cubicBezTo>
                  <a:cubicBezTo>
                    <a:pt x="916051" y="710819"/>
                    <a:pt x="710946" y="916051"/>
                    <a:pt x="457962" y="916051"/>
                  </a:cubicBezTo>
                  <a:cubicBezTo>
                    <a:pt x="204978" y="916051"/>
                    <a:pt x="0" y="710946"/>
                    <a:pt x="0" y="4579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54178" y="6214472"/>
            <a:ext cx="309115" cy="309115"/>
          </a:xfrm>
          <a:custGeom>
            <a:avLst/>
            <a:gdLst/>
            <a:ahLst/>
            <a:cxnLst/>
            <a:rect r="r" b="b" t="t" l="l"/>
            <a:pathLst>
              <a:path h="309115" w="309115">
                <a:moveTo>
                  <a:pt x="0" y="0"/>
                </a:moveTo>
                <a:lnTo>
                  <a:pt x="309115" y="0"/>
                </a:lnTo>
                <a:lnTo>
                  <a:pt x="309115" y="309115"/>
                </a:lnTo>
                <a:lnTo>
                  <a:pt x="0" y="309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516" r="0" b="-1516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65316" y="6888061"/>
            <a:ext cx="3379584" cy="3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K-NEAREST NEIGHBORS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65316" y="7346156"/>
            <a:ext cx="7351366" cy="103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Classifies by k=5 nearest neighbors. Motivated by fraud clustering intuition from k-Means. Requires feature scaling. Trained on pre-SMOTE data for computational efficiency.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2422" y="8776545"/>
            <a:ext cx="15803166" cy="36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Metrics: </a:t>
            </a: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Precision · Recall · F1-Score · ROC-AUC</a:t>
            </a: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 Accuracy excluded due to class imbalance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93031" y="900265"/>
            <a:ext cx="5897318" cy="74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93031" y="2002927"/>
            <a:ext cx="12830766" cy="4400702"/>
            <a:chOff x="0" y="0"/>
            <a:chExt cx="17107687" cy="58676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107663" cy="5867654"/>
            </a:xfrm>
            <a:custGeom>
              <a:avLst/>
              <a:gdLst/>
              <a:ahLst/>
              <a:cxnLst/>
              <a:rect r="r" b="b" t="t" l="l"/>
              <a:pathLst>
                <a:path h="5867654" w="17107663">
                  <a:moveTo>
                    <a:pt x="0" y="0"/>
                  </a:moveTo>
                  <a:lnTo>
                    <a:pt x="17107663" y="0"/>
                  </a:lnTo>
                  <a:lnTo>
                    <a:pt x="17107663" y="5867654"/>
                  </a:lnTo>
                  <a:lnTo>
                    <a:pt x="0" y="5867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964999" y="2595572"/>
            <a:ext cx="204102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0.82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84437" y="3831917"/>
            <a:ext cx="204102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0.52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03874" y="5579564"/>
            <a:ext cx="204102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230" y="5608901"/>
            <a:ext cx="144275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88269" y="6541741"/>
            <a:ext cx="15511310" cy="2840088"/>
            <a:chOff x="0" y="0"/>
            <a:chExt cx="20681747" cy="3786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81823" cy="3786759"/>
            </a:xfrm>
            <a:custGeom>
              <a:avLst/>
              <a:gdLst/>
              <a:ahLst/>
              <a:cxnLst/>
              <a:rect r="r" b="b" t="t" l="l"/>
              <a:pathLst>
                <a:path h="3786759" w="20681823">
                  <a:moveTo>
                    <a:pt x="0" y="51308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20630387" y="0"/>
                  </a:lnTo>
                  <a:lnTo>
                    <a:pt x="20630387" y="6350"/>
                  </a:lnTo>
                  <a:lnTo>
                    <a:pt x="20630387" y="0"/>
                  </a:lnTo>
                  <a:cubicBezTo>
                    <a:pt x="20658708" y="0"/>
                    <a:pt x="20681823" y="22987"/>
                    <a:pt x="20681823" y="51308"/>
                  </a:cubicBezTo>
                  <a:lnTo>
                    <a:pt x="20675473" y="51308"/>
                  </a:lnTo>
                  <a:lnTo>
                    <a:pt x="20681823" y="51308"/>
                  </a:lnTo>
                  <a:lnTo>
                    <a:pt x="20681823" y="3735451"/>
                  </a:lnTo>
                  <a:lnTo>
                    <a:pt x="20675473" y="3735451"/>
                  </a:lnTo>
                  <a:lnTo>
                    <a:pt x="20681823" y="3735451"/>
                  </a:lnTo>
                  <a:cubicBezTo>
                    <a:pt x="20681823" y="3763772"/>
                    <a:pt x="20658835" y="3786759"/>
                    <a:pt x="20630387" y="3786759"/>
                  </a:cubicBezTo>
                  <a:lnTo>
                    <a:pt x="20630387" y="3780409"/>
                  </a:lnTo>
                  <a:lnTo>
                    <a:pt x="20630387" y="3786759"/>
                  </a:lnTo>
                  <a:lnTo>
                    <a:pt x="51435" y="3786759"/>
                  </a:lnTo>
                  <a:lnTo>
                    <a:pt x="51435" y="3780409"/>
                  </a:lnTo>
                  <a:lnTo>
                    <a:pt x="51435" y="3786759"/>
                  </a:lnTo>
                  <a:cubicBezTo>
                    <a:pt x="23114" y="3786759"/>
                    <a:pt x="0" y="3763772"/>
                    <a:pt x="0" y="3735451"/>
                  </a:cubicBezTo>
                  <a:lnTo>
                    <a:pt x="0" y="51308"/>
                  </a:lnTo>
                  <a:lnTo>
                    <a:pt x="6350" y="51308"/>
                  </a:lnTo>
                  <a:lnTo>
                    <a:pt x="0" y="51308"/>
                  </a:lnTo>
                  <a:moveTo>
                    <a:pt x="12700" y="51308"/>
                  </a:moveTo>
                  <a:lnTo>
                    <a:pt x="12700" y="3735451"/>
                  </a:lnTo>
                  <a:lnTo>
                    <a:pt x="6350" y="3735451"/>
                  </a:lnTo>
                  <a:lnTo>
                    <a:pt x="12700" y="3735451"/>
                  </a:lnTo>
                  <a:cubicBezTo>
                    <a:pt x="12700" y="3756787"/>
                    <a:pt x="29972" y="3774059"/>
                    <a:pt x="51435" y="3774059"/>
                  </a:cubicBezTo>
                  <a:lnTo>
                    <a:pt x="20630387" y="3774059"/>
                  </a:lnTo>
                  <a:cubicBezTo>
                    <a:pt x="20651851" y="3774059"/>
                    <a:pt x="20669123" y="3756787"/>
                    <a:pt x="20669123" y="3735451"/>
                  </a:cubicBezTo>
                  <a:lnTo>
                    <a:pt x="20669123" y="51308"/>
                  </a:lnTo>
                  <a:cubicBezTo>
                    <a:pt x="20669123" y="29972"/>
                    <a:pt x="20651851" y="12700"/>
                    <a:pt x="20630387" y="12700"/>
                  </a:cubicBezTo>
                  <a:lnTo>
                    <a:pt x="51435" y="12700"/>
                  </a:lnTo>
                  <a:lnTo>
                    <a:pt x="51435" y="6350"/>
                  </a:lnTo>
                  <a:lnTo>
                    <a:pt x="51435" y="12700"/>
                  </a:lnTo>
                  <a:cubicBezTo>
                    <a:pt x="29972" y="12700"/>
                    <a:pt x="12700" y="29972"/>
                    <a:pt x="12700" y="5130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627880" y="6643687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13469" y="6643687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PRECISION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94297" y="6643687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RECALL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5134" y="6643687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F1-SCORE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5961" y="6643687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ROC-AUC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36788" y="6643687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BEST 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880" y="7207891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KNN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13469" y="7207891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0.9710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94297" y="7207891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0.7053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75134" y="7207891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0.8171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55961" y="7207891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0.8999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36788" y="7207891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F1 + Precision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7880" y="7772105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13469" y="7772105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0.4149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94297" y="7772105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0.8211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75134" y="7772105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0.5512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55961" y="7772105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0.9812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36788" y="7772105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ROC-AUC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7880" y="8336309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Logistic Reg.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13469" y="8336309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0.0520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94297" y="8336309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0.8737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75134" y="8336309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0.0981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55961" y="8336309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0.9628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36788" y="8336309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Recall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27880" y="8900522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Decision Tree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13469" y="8900522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0.0415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94297" y="8900522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0.8421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75134" y="8900522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0.0792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55961" y="8900522"/>
            <a:ext cx="2122141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0.9007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536788" y="8900522"/>
            <a:ext cx="2126904" cy="3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Interpretability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4668" y="1236764"/>
            <a:ext cx="6935391" cy="89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RECOMMENDATION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4668" y="2624585"/>
            <a:ext cx="5315398" cy="4633322"/>
            <a:chOff x="0" y="0"/>
            <a:chExt cx="7087197" cy="61777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87235" cy="6177788"/>
            </a:xfrm>
            <a:custGeom>
              <a:avLst/>
              <a:gdLst/>
              <a:ahLst/>
              <a:cxnLst/>
              <a:rect r="r" b="b" t="t" l="l"/>
              <a:pathLst>
                <a:path h="6177788" w="708723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034403" y="0"/>
                  </a:lnTo>
                  <a:cubicBezTo>
                    <a:pt x="7063613" y="0"/>
                    <a:pt x="7087235" y="23622"/>
                    <a:pt x="7087235" y="52832"/>
                  </a:cubicBezTo>
                  <a:lnTo>
                    <a:pt x="7087235" y="6124956"/>
                  </a:lnTo>
                  <a:cubicBezTo>
                    <a:pt x="7087235" y="6154166"/>
                    <a:pt x="7063613" y="6177788"/>
                    <a:pt x="7034403" y="6177788"/>
                  </a:cubicBezTo>
                  <a:lnTo>
                    <a:pt x="52832" y="6177788"/>
                  </a:lnTo>
                  <a:cubicBezTo>
                    <a:pt x="23622" y="6177788"/>
                    <a:pt x="0" y="6154166"/>
                    <a:pt x="0" y="6124956"/>
                  </a:cubicBezTo>
                  <a:close/>
                </a:path>
              </a:pathLst>
            </a:custGeom>
            <a:solidFill>
              <a:srgbClr val="FFD1A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8491" y="2869702"/>
            <a:ext cx="4647609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KNN : Recommended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834" y="3403102"/>
            <a:ext cx="4787055" cy="359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Highest F1-Score (0.8171) — best balance of precision and recall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Precision of 0.9710 — 97% of fraud alerts are genuine fraud cases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Only 3 false positives in 56,746 test transactions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Fraud investigation teams can trust nearly every flagged alert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86230" y="2624585"/>
            <a:ext cx="5315398" cy="4633322"/>
            <a:chOff x="0" y="0"/>
            <a:chExt cx="7087197" cy="61777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87235" cy="6177788"/>
            </a:xfrm>
            <a:custGeom>
              <a:avLst/>
              <a:gdLst/>
              <a:ahLst/>
              <a:cxnLst/>
              <a:rect r="r" b="b" t="t" l="l"/>
              <a:pathLst>
                <a:path h="6177788" w="708723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034403" y="0"/>
                  </a:lnTo>
                  <a:cubicBezTo>
                    <a:pt x="7063613" y="0"/>
                    <a:pt x="7087235" y="23622"/>
                    <a:pt x="7087235" y="52832"/>
                  </a:cubicBezTo>
                  <a:lnTo>
                    <a:pt x="7087235" y="6124956"/>
                  </a:lnTo>
                  <a:cubicBezTo>
                    <a:pt x="7087235" y="6154166"/>
                    <a:pt x="7063613" y="6177788"/>
                    <a:pt x="7034403" y="6177788"/>
                  </a:cubicBezTo>
                  <a:lnTo>
                    <a:pt x="52832" y="6177788"/>
                  </a:lnTo>
                  <a:cubicBezTo>
                    <a:pt x="23622" y="6177788"/>
                    <a:pt x="0" y="6154166"/>
                    <a:pt x="0" y="6124956"/>
                  </a:cubicBezTo>
                  <a:close/>
                </a:path>
              </a:pathLst>
            </a:custGeom>
            <a:solidFill>
              <a:srgbClr val="FFD1A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283501" y="2869702"/>
            <a:ext cx="3720703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High-Value Fraud Risk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50396" y="3403102"/>
            <a:ext cx="4787055" cy="129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-US" sz="206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Random Forest</a:t>
            </a: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since it has highest ROC-AUC and adjust threshold for recall.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47782" y="2624585"/>
            <a:ext cx="5315398" cy="4633322"/>
            <a:chOff x="0" y="0"/>
            <a:chExt cx="7087197" cy="61777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87235" cy="6177788"/>
            </a:xfrm>
            <a:custGeom>
              <a:avLst/>
              <a:gdLst/>
              <a:ahLst/>
              <a:cxnLst/>
              <a:rect r="r" b="b" t="t" l="l"/>
              <a:pathLst>
                <a:path h="6177788" w="708723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034403" y="0"/>
                  </a:lnTo>
                  <a:cubicBezTo>
                    <a:pt x="7063613" y="0"/>
                    <a:pt x="7087235" y="23622"/>
                    <a:pt x="7087235" y="52832"/>
                  </a:cubicBezTo>
                  <a:lnTo>
                    <a:pt x="7087235" y="6124956"/>
                  </a:lnTo>
                  <a:cubicBezTo>
                    <a:pt x="7087235" y="6154166"/>
                    <a:pt x="7063613" y="6177788"/>
                    <a:pt x="7034403" y="6177788"/>
                  </a:cubicBezTo>
                  <a:lnTo>
                    <a:pt x="52832" y="6177788"/>
                  </a:lnTo>
                  <a:cubicBezTo>
                    <a:pt x="23622" y="6177788"/>
                    <a:pt x="0" y="6154166"/>
                    <a:pt x="0" y="6124956"/>
                  </a:cubicBezTo>
                  <a:close/>
                </a:path>
              </a:pathLst>
            </a:custGeom>
            <a:solidFill>
              <a:srgbClr val="FFD1A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50120" y="2869702"/>
            <a:ext cx="3710578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Operational Efficiency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11958" y="3403102"/>
            <a:ext cx="4787055" cy="8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-US" sz="206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KNN</a:t>
            </a: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with best F1, minimal false alarms.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4668" y="7504062"/>
            <a:ext cx="16438512" cy="1517599"/>
            <a:chOff x="0" y="0"/>
            <a:chExt cx="21918016" cy="20234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18042" cy="2023491"/>
            </a:xfrm>
            <a:custGeom>
              <a:avLst/>
              <a:gdLst/>
              <a:ahLst/>
              <a:cxnLst/>
              <a:rect r="r" b="b" t="t" l="l"/>
              <a:pathLst>
                <a:path h="2023491" w="21918042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21865210" y="0"/>
                  </a:lnTo>
                  <a:cubicBezTo>
                    <a:pt x="21894420" y="0"/>
                    <a:pt x="21918042" y="23622"/>
                    <a:pt x="21918042" y="52832"/>
                  </a:cubicBezTo>
                  <a:lnTo>
                    <a:pt x="21918042" y="1970659"/>
                  </a:lnTo>
                  <a:cubicBezTo>
                    <a:pt x="21918042" y="1999869"/>
                    <a:pt x="21894420" y="2023491"/>
                    <a:pt x="21865210" y="2023491"/>
                  </a:cubicBezTo>
                  <a:lnTo>
                    <a:pt x="52832" y="2023491"/>
                  </a:lnTo>
                  <a:cubicBezTo>
                    <a:pt x="23622" y="2023491"/>
                    <a:pt x="0" y="1999869"/>
                    <a:pt x="0" y="1970659"/>
                  </a:cubicBezTo>
                  <a:close/>
                </a:path>
              </a:pathLst>
            </a:custGeom>
            <a:solidFill>
              <a:srgbClr val="FFD1A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026773" y="7749178"/>
            <a:ext cx="4234310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Regulatory Explainability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834" y="8282578"/>
            <a:ext cx="15910169" cy="47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-US" sz="206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 Tree</a:t>
            </a:r>
            <a:r>
              <a:rPr lang="en-US" sz="206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alongside KNN.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745581"/>
            <a:ext cx="7442749" cy="96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185790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Key takeaways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4138" y="5015503"/>
            <a:ext cx="76200" cy="2525916"/>
            <a:chOff x="0" y="0"/>
            <a:chExt cx="101600" cy="33678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3367913"/>
            </a:xfrm>
            <a:custGeom>
              <a:avLst/>
              <a:gdLst/>
              <a:ahLst/>
              <a:cxnLst/>
              <a:rect r="r" b="b" t="t" l="l"/>
              <a:pathLst>
                <a:path h="3367913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367913"/>
                  </a:lnTo>
                  <a:lnTo>
                    <a:pt x="0" y="3367913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1959" y="5034553"/>
            <a:ext cx="4068070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Metric Selection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1959" y="5593556"/>
            <a:ext cx="4838548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 imbalanced problems, the metric you optimize for is as important as the model you choose.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06766" y="5015503"/>
            <a:ext cx="76200" cy="2525916"/>
            <a:chOff x="0" y="0"/>
            <a:chExt cx="101600" cy="33678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3367913"/>
            </a:xfrm>
            <a:custGeom>
              <a:avLst/>
              <a:gdLst/>
              <a:ahLst/>
              <a:cxnLst/>
              <a:rect r="r" b="b" t="t" l="l"/>
              <a:pathLst>
                <a:path h="3367913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367913"/>
                  </a:lnTo>
                  <a:lnTo>
                    <a:pt x="0" y="3367913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904587" y="5034553"/>
            <a:ext cx="3775024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Pipeline Order Matters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4587" y="5593556"/>
            <a:ext cx="4838548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Split before scaling. Scale before SMOTE. SMOTE on training only. Every step has a data leakage implication.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9393" y="5015503"/>
            <a:ext cx="76200" cy="2525916"/>
            <a:chOff x="0" y="0"/>
            <a:chExt cx="101600" cy="33678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3367913"/>
            </a:xfrm>
            <a:custGeom>
              <a:avLst/>
              <a:gdLst/>
              <a:ahLst/>
              <a:cxnLst/>
              <a:rect r="r" b="b" t="t" l="l"/>
              <a:pathLst>
                <a:path h="3367913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367913"/>
                  </a:lnTo>
                  <a:lnTo>
                    <a:pt x="0" y="3367913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57214" y="5034553"/>
            <a:ext cx="4352630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No Universally Best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7214" y="5593556"/>
            <a:ext cx="4838548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KNN wins on F1, RF wins on ROC-AUC, LR wins on Recall. The right choice depends on deployment and business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DAHGOFHkEtw</dc:identifier>
  <dcterms:modified xsi:type="dcterms:W3CDTF">2011-08-01T06:04:30Z</dcterms:modified>
  <cp:revision>1</cp:revision>
  <dc:title>Team 5-Credit-Card-Fraud-Detection.pptx</dc:title>
</cp:coreProperties>
</file>